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0312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ASSIGNMENT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55240"/>
            <a:ext cx="10883392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0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ShopSphere E-Commerce Analytics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43484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files to a dimensional model and eight KPIs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 cleaning and quality scorecard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96620" y="1513840"/>
            <a:ext cx="409448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typos in segments, status and channel values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Parsed mixed date formats and ₹ amounts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orphan rows and recomputed line totals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the star schema into SQLite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93360" y="1524000"/>
          <a:ext cx="6085840" cy="3088640"/>
        </p:xfrm>
        <a:graphic>
          <a:graphicData uri="http://schemas.openxmlformats.org/drawingml/2006/table">
            <a:tbl>
              <a:tblPr/>
              <a:tblGrid>
                <a:gridCol w="1521460"/>
                <a:gridCol w="1521460"/>
                <a:gridCol w="1521460"/>
                <a:gridCol w="152146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rows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rate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order_items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41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data_quality_scorecard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KPI 1: Net revenue by month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89508" y="2600961"/>
            <a:ext cx="3578352" cy="2016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is gross sales on completed orders minus approved refunds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swings sharply, peaking near 540K in mid-2024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months fall between 50K and 350K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24400" y="1564641"/>
            <a:ext cx="6350000" cy="406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pic>
        <p:nvPicPr>
          <p:cNvPr id="5" name="Image 0" descr="KPI 1: Net revenue by month">    </p:cNvPr>
          <p:cNvPicPr>
            <a:picLocks noChangeAspect="1"/>
          </p:cNvPicPr>
          <p:nvPr/>
        </p:nvPicPr>
        <p:blipFill>
          <a:blip r:embed="rId1"/>
          <a:srcRect l="-460" r="-460" t="0" b="0"/>
          <a:stretch/>
        </p:blipFill>
        <p:spPr>
          <a:xfrm>
            <a:off x="4730750" y="1570991"/>
            <a:ext cx="6337300" cy="4051300"/>
          </a:xfrm>
          <a:prstGeom prst="roundRect">
            <a:avLst>
              <a:gd name="adj" fmla="val 2351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4727575" y="1567816"/>
            <a:ext cx="6343650" cy="4057650"/>
          </a:xfrm>
          <a:prstGeom prst="roundRect">
            <a:avLst>
              <a:gd name="adj" fmla="val 2426"/>
            </a:avLst>
          </a:prstGeom>
          <a:noFill/>
          <a:ln w="6350">
            <a:solidFill>
              <a:srgbClr val="D9D5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6238241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kpi1_net_revenue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KPI 2: Top 10 customers by net lifetime value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89508" y="2885441"/>
            <a:ext cx="3578352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Utkarsh Bhat leads at about 532K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Eesha Sethi and Raksha Raj follow at roughly 464K and 446K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customers are not tied to one segment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24400" y="1564641"/>
            <a:ext cx="6350000" cy="406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pic>
        <p:nvPicPr>
          <p:cNvPr id="5" name="Image 0" descr="KPI 2: Top 10 customers by net lifetime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0" y="1735105"/>
            <a:ext cx="6337300" cy="37230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27575" y="1567816"/>
            <a:ext cx="6343650" cy="4057650"/>
          </a:xfrm>
          <a:prstGeom prst="roundRect">
            <a:avLst>
              <a:gd name="adj" fmla="val 2426"/>
            </a:avLst>
          </a:prstGeom>
          <a:noFill/>
          <a:ln w="6350">
            <a:solidFill>
              <a:srgbClr val="D9D5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6238239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kpi2_top_customers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KPI 3: Customer segment profile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89508" y="2885439"/>
            <a:ext cx="3578352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Platinum brings the largest share of revenue at 30%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has the highest average order value at about 97.7K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is the smallest share at 21%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24400" y="1564639"/>
            <a:ext cx="6350000" cy="406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pic>
        <p:nvPicPr>
          <p:cNvPr id="5" name="Image 0" descr="KPI 3: Customer segment pro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7130" y="1570989"/>
            <a:ext cx="6044540" cy="4051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27575" y="1567814"/>
            <a:ext cx="6343650" cy="4057650"/>
          </a:xfrm>
          <a:prstGeom prst="roundRect">
            <a:avLst>
              <a:gd name="adj" fmla="val 2426"/>
            </a:avLst>
          </a:prstGeom>
          <a:noFill/>
          <a:ln w="6350">
            <a:solidFill>
              <a:srgbClr val="D9D5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6238239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kpi3_segments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KPI 4: Month-over-month growth by channel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89508" y="2885439"/>
            <a:ext cx="3578352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App, Store and Web all swing strongly month to month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reaches the highest peak, close to 790K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data begins late and has gaps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24400" y="1564639"/>
            <a:ext cx="6350000" cy="406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pic>
        <p:nvPicPr>
          <p:cNvPr id="5" name="Image 0" descr="KPI 4: Month-over-month growth by chan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0" y="2414136"/>
            <a:ext cx="6337300" cy="23650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27575" y="1567814"/>
            <a:ext cx="6343650" cy="4057650"/>
          </a:xfrm>
          <a:prstGeom prst="roundRect">
            <a:avLst>
              <a:gd name="adj" fmla="val 2426"/>
            </a:avLst>
          </a:prstGeom>
          <a:noFill/>
          <a:ln w="6350">
            <a:solidFill>
              <a:srgbClr val="D9D5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6238239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kpi4_mom_growth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KPI 5: Product return rate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89508" y="2743200"/>
            <a:ext cx="3578352" cy="1732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Sports Item 18 has the highest return rate at about 22%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products have no approved returns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high-return products drive most of the refund risk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24400" y="1564639"/>
            <a:ext cx="6350000" cy="406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pic>
        <p:nvPicPr>
          <p:cNvPr id="5" name="Image 0" descr="KPI 5: Product return r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0" y="1814054"/>
            <a:ext cx="6337300" cy="35651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27575" y="1567814"/>
            <a:ext cx="6343650" cy="4057650"/>
          </a:xfrm>
          <a:prstGeom prst="roundRect">
            <a:avLst>
              <a:gd name="adj" fmla="val 2426"/>
            </a:avLst>
          </a:prstGeom>
          <a:noFill/>
          <a:ln w="6350">
            <a:solidFill>
              <a:srgbClr val="D9D5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6238239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kpi5_return_rate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KPI 6: Supplier performance scorecard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89508" y="2743200"/>
            <a:ext cx="3578352" cy="1732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blends revenue (50%), rating (30%) and return rate (20%)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Lalla, Ganesh and Oommen ranks first at about 91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fall to the high 30s at the bottom of the list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24400" y="1564639"/>
            <a:ext cx="6350000" cy="406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pic>
        <p:nvPicPr>
          <p:cNvPr id="5" name="Image 0" descr="KPI 6: Supplier performance score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0" y="1918558"/>
            <a:ext cx="6337300" cy="335616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27575" y="1567814"/>
            <a:ext cx="6343650" cy="4057650"/>
          </a:xfrm>
          <a:prstGeom prst="roundRect">
            <a:avLst>
              <a:gd name="adj" fmla="val 2426"/>
            </a:avLst>
          </a:prstGeom>
          <a:noFill/>
          <a:ln w="6350">
            <a:solidFill>
              <a:srgbClr val="D9D5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6238242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kpi6_suppliers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KPI 7: Customer repeat-purchase rate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89508" y="2885442"/>
            <a:ext cx="3578352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8.5% of customers buy again within 90 days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repeat rate is 48.9%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retention is the main opportunity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24400" y="1564642"/>
            <a:ext cx="6350000" cy="406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pic>
        <p:nvPicPr>
          <p:cNvPr id="5" name="Image 0" descr="KPI 7: Customer repeat-purchase r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0" y="1701769"/>
            <a:ext cx="6337300" cy="37897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27575" y="1567817"/>
            <a:ext cx="6343650" cy="4057650"/>
          </a:xfrm>
          <a:prstGeom prst="roundRect">
            <a:avLst>
              <a:gd name="adj" fmla="val 2426"/>
            </a:avLst>
          </a:prstGeom>
          <a:noFill/>
          <a:ln w="6350">
            <a:solidFill>
              <a:srgbClr val="D9D5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6238242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kpi7_repeat_rate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KPI 8: Payment reconciliation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89508" y="2743200"/>
            <a:ext cx="3578352" cy="1732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122 orders reconcile cleanly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97 orders have no successful payment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Under-payments (about 46) and over-payments (about 38) need review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24400" y="1564642"/>
            <a:ext cx="6350000" cy="406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pic>
        <p:nvPicPr>
          <p:cNvPr id="5" name="Image 0" descr="KPI 8: Payment reconcili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0" y="2355316"/>
            <a:ext cx="6337300" cy="24826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27575" y="1567817"/>
            <a:ext cx="6343650" cy="4057650"/>
          </a:xfrm>
          <a:prstGeom prst="roundRect">
            <a:avLst>
              <a:gd name="adj" fmla="val 2426"/>
            </a:avLst>
          </a:prstGeom>
          <a:noFill/>
          <a:ln w="6350">
            <a:solidFill>
              <a:srgbClr val="D9D5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6238242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kpi8_payment_anomalies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Stretch KPI: Margin risk by category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89508" y="2885442"/>
            <a:ext cx="3578352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products have a cost price above the selling price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 carries the largest loss exposure, about 630K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&amp; Kitchen and Grocery follow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24400" y="1564642"/>
            <a:ext cx="6350000" cy="406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pic>
        <p:nvPicPr>
          <p:cNvPr id="5" name="Image 0" descr="Stretch KPI: Margin risk by categ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0" y="2369613"/>
            <a:ext cx="6337300" cy="24540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27575" y="1567817"/>
            <a:ext cx="6343650" cy="4057650"/>
          </a:xfrm>
          <a:prstGeom prst="roundRect">
            <a:avLst>
              <a:gd name="adj" fmla="val 2426"/>
            </a:avLst>
          </a:prstGeom>
          <a:noFill/>
          <a:ln w="6350">
            <a:solidFill>
              <a:srgbClr val="D9D5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6238242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kpi_stretch_margin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722121"/>
            <a:ext cx="2489200" cy="2186940"/>
          </a:xfrm>
          <a:prstGeom prst="roundRect">
            <a:avLst>
              <a:gd name="adj" fmla="val 4646"/>
            </a:avLst>
          </a:prstGeom>
          <a:solidFill>
            <a:srgbClr val="1F2F57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976121"/>
            <a:ext cx="204063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pricing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352042"/>
            <a:ext cx="2040636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Reprice or retire loss-making products, starting with Fashion.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05200" y="1722121"/>
            <a:ext cx="2489200" cy="2186940"/>
          </a:xfrm>
          <a:prstGeom prst="roundRect">
            <a:avLst>
              <a:gd name="adj" fmla="val 4646"/>
            </a:avLst>
          </a:prstGeom>
          <a:solidFill>
            <a:srgbClr val="1F2F57"/>
          </a:solidFill>
          <a:ln/>
        </p:spPr>
      </p:sp>
      <p:sp>
        <p:nvSpPr>
          <p:cNvPr id="7" name="Text 5"/>
          <p:cNvSpPr/>
          <p:nvPr/>
        </p:nvSpPr>
        <p:spPr>
          <a:xfrm>
            <a:off x="3759200" y="1976121"/>
            <a:ext cx="2040636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payments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59200" y="2626364"/>
            <a:ext cx="2040636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 the orders with no successful payment and review over- and under-payments.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7600" y="1722121"/>
            <a:ext cx="2489200" cy="2186940"/>
          </a:xfrm>
          <a:prstGeom prst="roundRect">
            <a:avLst>
              <a:gd name="adj" fmla="val 4646"/>
            </a:avLst>
          </a:prstGeom>
          <a:solidFill>
            <a:srgbClr val="1F2F57"/>
          </a:solidFill>
          <a:ln/>
        </p:spPr>
      </p:sp>
      <p:sp>
        <p:nvSpPr>
          <p:cNvPr id="10" name="Text 8"/>
          <p:cNvSpPr/>
          <p:nvPr/>
        </p:nvSpPr>
        <p:spPr>
          <a:xfrm>
            <a:off x="6451600" y="1976121"/>
            <a:ext cx="204063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retention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51600" y="2352042"/>
            <a:ext cx="2040636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the 90-day repeat rate with early follow-up offers.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90000" y="1722121"/>
            <a:ext cx="2489200" cy="2186940"/>
          </a:xfrm>
          <a:prstGeom prst="roundRect">
            <a:avLst>
              <a:gd name="adj" fmla="val 4646"/>
            </a:avLst>
          </a:prstGeom>
          <a:solidFill>
            <a:srgbClr val="1F2F5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1976121"/>
            <a:ext cx="204063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returns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0" y="2352042"/>
            <a:ext cx="2040636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high-return products and low-scoring suppliers.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pSphere E-Commerce Analytics">
  <a:themeElements>
    <a:clrScheme name="ShopSphere E-Commerce Analytics">
      <a:dk1>
        <a:srgbClr val="14213D"/>
      </a:dk1>
      <a:lt1>
        <a:srgbClr val="F6F4EE"/>
      </a:lt1>
      <a:dk2>
        <a:srgbClr val="4D5669"/>
      </a:dk2>
      <a:lt2>
        <a:srgbClr val="DFDFDC"/>
      </a:lt2>
      <a:accent1>
        <a:srgbClr val="F2A65A"/>
      </a:accent1>
      <a:accent2>
        <a:srgbClr val="1F2F57"/>
      </a:accent2>
      <a:accent3>
        <a:srgbClr val="5B6475"/>
      </a:accent3>
      <a:accent4>
        <a:srgbClr val="C9D1E3"/>
      </a:accent4>
      <a:accent5>
        <a:srgbClr val="9AA0A6"/>
      </a:accent5>
      <a:accent6>
        <a:srgbClr val="6E7584"/>
      </a:accent6>
      <a:hlink>
        <a:srgbClr val="0563C1"/>
      </a:hlink>
      <a:folHlink>
        <a:srgbClr val="954F72"/>
      </a:folHlink>
    </a:clrScheme>
    <a:fontScheme name="ShopSphere E-Commerce Analytic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ShopSphere E-Commerce Analytics</dc:title>
  <dc:subject/>
  <dc:creator/>
  <cp:lastModifiedBy/>
  <cp:revision>1</cp:revision>
  <dcterms:created xsi:type="dcterms:W3CDTF">2026-10-24T11:56:05Z</dcterms:created>
  <dcterms:modified xsi:type="dcterms:W3CDTF">2026-10-24T11:56:05Z</dcterms:modified>
</cp:coreProperties>
</file>